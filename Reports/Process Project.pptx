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4"/>
  </p:sldMasterIdLst>
  <p:notesMasterIdLst>
    <p:notesMasterId r:id="rId19"/>
  </p:notesMasterIdLst>
  <p:sldIdLst>
    <p:sldId id="256" r:id="rId5"/>
    <p:sldId id="292" r:id="rId6"/>
    <p:sldId id="308" r:id="rId7"/>
    <p:sldId id="317" r:id="rId8"/>
    <p:sldId id="314" r:id="rId9"/>
    <p:sldId id="258" r:id="rId10"/>
    <p:sldId id="295" r:id="rId11"/>
    <p:sldId id="261" r:id="rId12"/>
    <p:sldId id="296" r:id="rId13"/>
    <p:sldId id="267" r:id="rId14"/>
    <p:sldId id="305" r:id="rId15"/>
    <p:sldId id="315" r:id="rId16"/>
    <p:sldId id="316" r:id="rId17"/>
    <p:sldId id="278" r:id="rId18"/>
  </p:sldIdLst>
  <p:sldSz cx="9144000" cy="5143500" type="screen16x9"/>
  <p:notesSz cx="6858000" cy="9144000"/>
  <p:embeddedFontLst>
    <p:embeddedFont>
      <p:font typeface="Barlow Light" panose="00000400000000000000" pitchFamily="2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 Math" panose="02040503050406030204" pitchFamily="18" charset="0"/>
      <p:regular r:id="rId28"/>
    </p:embeddedFont>
    <p:embeddedFont>
      <p:font typeface="Raleway Thin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A8E0"/>
    <a:srgbClr val="0B96D2"/>
    <a:srgbClr val="024457"/>
    <a:srgbClr val="3C3C3B"/>
    <a:srgbClr val="5FBDE0"/>
    <a:srgbClr val="5AB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0C8157-D46E-49CB-999D-F1D37CA22B3E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A8D5F795-F1E6-441F-A626-AE77BB9E3FA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A95F3E29-2A54-4267-904E-394D632AE2FC}" type="parTrans" cxnId="{5A962FE2-95F4-4A7D-95A9-CFD55EA0C3E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98A1EC-067C-4D7B-8B03-2E39998398FB}" type="sibTrans" cxnId="{5A962FE2-95F4-4A7D-95A9-CFD55EA0C3E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512BAB-3F20-4D90-80C7-BAF3FDAD450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Mathematical 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Model</a:t>
          </a:r>
        </a:p>
      </dgm:t>
    </dgm:pt>
    <dgm:pt modelId="{057F942D-CB0C-4C8B-A892-FABEC15043D7}" type="parTrans" cxnId="{97B740BE-AEFF-4833-AEB5-561C42A81DC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C51F8E-B400-4584-A229-C32B138F8024}" type="sibTrans" cxnId="{97B740BE-AEFF-4833-AEB5-561C42A81DC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109387-C219-4750-8993-C7AFD0F8C5E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MPC Parameters </a:t>
          </a:r>
        </a:p>
      </dgm:t>
    </dgm:pt>
    <dgm:pt modelId="{4406CA77-9B2F-4B10-80CA-8EB28F34CE22}" type="parTrans" cxnId="{A24F761B-9735-4D5F-BD01-D1DF1A22DF4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D51593-76CF-4EB4-AE65-2D97300E9D9B}" type="sibTrans" cxnId="{A24F761B-9735-4D5F-BD01-D1DF1A22DF45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647EB8-3740-4759-8C54-D01754D593C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MPC 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</a:p>
      </dgm:t>
    </dgm:pt>
    <dgm:pt modelId="{3951BD73-348F-4B2A-A68A-D9079271CD97}" type="parTrans" cxnId="{32158FB9-980F-49AF-A11B-A28746DB9D4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B7A19F-8865-402D-85CE-BB02FB49409A}" type="sibTrans" cxnId="{32158FB9-980F-49AF-A11B-A28746DB9D4E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153B5D-100C-4CF5-B878-517F0AF6FF3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gm:t>
    </dgm:pt>
    <dgm:pt modelId="{37D24B8D-34A4-43A7-BAC1-354E5B37A8AB}" type="parTrans" cxnId="{E432160F-341A-404F-B139-21220E8BAAA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B4EB92-B88D-49A1-8364-5B09D74221F0}" type="sibTrans" cxnId="{E432160F-341A-404F-B139-21220E8BAAA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9DCFAC-094F-4273-8EF2-2B5550D5654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PID performance</a:t>
          </a:r>
        </a:p>
      </dgm:t>
    </dgm:pt>
    <dgm:pt modelId="{68926DF5-4263-4897-8269-6256EDCF39B9}" type="parTrans" cxnId="{A75830CA-748F-48C0-BF11-198EF43373E6}">
      <dgm:prSet/>
      <dgm:spPr/>
      <dgm:t>
        <a:bodyPr/>
        <a:lstStyle/>
        <a:p>
          <a:endParaRPr lang="en-US"/>
        </a:p>
      </dgm:t>
    </dgm:pt>
    <dgm:pt modelId="{0B082384-3ACE-4523-A41B-021586004D54}" type="sibTrans" cxnId="{A75830CA-748F-48C0-BF11-198EF43373E6}">
      <dgm:prSet/>
      <dgm:spPr/>
      <dgm:t>
        <a:bodyPr/>
        <a:lstStyle/>
        <a:p>
          <a:endParaRPr lang="en-US"/>
        </a:p>
      </dgm:t>
    </dgm:pt>
    <dgm:pt modelId="{2EE507D5-3945-47F2-A4DD-5A9CF4D7C824}" type="pres">
      <dgm:prSet presAssocID="{3D0C8157-D46E-49CB-999D-F1D37CA22B3E}" presName="diagram" presStyleCnt="0">
        <dgm:presLayoutVars>
          <dgm:dir/>
          <dgm:resizeHandles val="exact"/>
        </dgm:presLayoutVars>
      </dgm:prSet>
      <dgm:spPr/>
    </dgm:pt>
    <dgm:pt modelId="{56E5DE67-BD8A-4110-A786-A7CD21BB00A5}" type="pres">
      <dgm:prSet presAssocID="{A8D5F795-F1E6-441F-A626-AE77BB9E3FA0}" presName="node" presStyleLbl="node1" presStyleIdx="0" presStyleCnt="6">
        <dgm:presLayoutVars>
          <dgm:bulletEnabled val="1"/>
        </dgm:presLayoutVars>
      </dgm:prSet>
      <dgm:spPr/>
    </dgm:pt>
    <dgm:pt modelId="{4E92E181-97DF-4828-830B-2A6197E79D2B}" type="pres">
      <dgm:prSet presAssocID="{8F98A1EC-067C-4D7B-8B03-2E39998398FB}" presName="sibTrans" presStyleCnt="0"/>
      <dgm:spPr/>
    </dgm:pt>
    <dgm:pt modelId="{7C347846-A987-4054-8AED-BFBEA63230FB}" type="pres">
      <dgm:prSet presAssocID="{6F512BAB-3F20-4D90-80C7-BAF3FDAD450D}" presName="node" presStyleLbl="node1" presStyleIdx="1" presStyleCnt="6">
        <dgm:presLayoutVars>
          <dgm:bulletEnabled val="1"/>
        </dgm:presLayoutVars>
      </dgm:prSet>
      <dgm:spPr/>
    </dgm:pt>
    <dgm:pt modelId="{7F672D91-9A19-4FD0-B4D6-651324BE5207}" type="pres">
      <dgm:prSet presAssocID="{75C51F8E-B400-4584-A229-C32B138F8024}" presName="sibTrans" presStyleCnt="0"/>
      <dgm:spPr/>
    </dgm:pt>
    <dgm:pt modelId="{54F9420A-DE3D-4C2B-9A3B-D775B0350C63}" type="pres">
      <dgm:prSet presAssocID="{B89DCFAC-094F-4273-8EF2-2B5550D56545}" presName="node" presStyleLbl="node1" presStyleIdx="2" presStyleCnt="6">
        <dgm:presLayoutVars>
          <dgm:bulletEnabled val="1"/>
        </dgm:presLayoutVars>
      </dgm:prSet>
      <dgm:spPr/>
    </dgm:pt>
    <dgm:pt modelId="{A825B9A3-1969-45B6-84E0-D77803B26643}" type="pres">
      <dgm:prSet presAssocID="{0B082384-3ACE-4523-A41B-021586004D54}" presName="sibTrans" presStyleCnt="0"/>
      <dgm:spPr/>
    </dgm:pt>
    <dgm:pt modelId="{95DE17CA-9BFD-4741-BDC5-7846270820BD}" type="pres">
      <dgm:prSet presAssocID="{E8109387-C219-4750-8993-C7AFD0F8C5E3}" presName="node" presStyleLbl="node1" presStyleIdx="3" presStyleCnt="6">
        <dgm:presLayoutVars>
          <dgm:bulletEnabled val="1"/>
        </dgm:presLayoutVars>
      </dgm:prSet>
      <dgm:spPr/>
    </dgm:pt>
    <dgm:pt modelId="{8C2FEB54-CEAA-4BD2-9C53-D83A41B06281}" type="pres">
      <dgm:prSet presAssocID="{D7D51593-76CF-4EB4-AE65-2D97300E9D9B}" presName="sibTrans" presStyleCnt="0"/>
      <dgm:spPr/>
    </dgm:pt>
    <dgm:pt modelId="{ACD5A81E-9DDE-4146-9CBF-40ADE8FB7D57}" type="pres">
      <dgm:prSet presAssocID="{76647EB8-3740-4759-8C54-D01754D593C2}" presName="node" presStyleLbl="node1" presStyleIdx="4" presStyleCnt="6">
        <dgm:presLayoutVars>
          <dgm:bulletEnabled val="1"/>
        </dgm:presLayoutVars>
      </dgm:prSet>
      <dgm:spPr/>
    </dgm:pt>
    <dgm:pt modelId="{925AED4C-EE77-41FF-A278-44C836E47DAA}" type="pres">
      <dgm:prSet presAssocID="{3DB7A19F-8865-402D-85CE-BB02FB49409A}" presName="sibTrans" presStyleCnt="0"/>
      <dgm:spPr/>
    </dgm:pt>
    <dgm:pt modelId="{5DDF74A8-3CFC-43F1-AB59-FEDDA789E4FF}" type="pres">
      <dgm:prSet presAssocID="{9B153B5D-100C-4CF5-B878-517F0AF6FF32}" presName="node" presStyleLbl="node1" presStyleIdx="5" presStyleCnt="6">
        <dgm:presLayoutVars>
          <dgm:bulletEnabled val="1"/>
        </dgm:presLayoutVars>
      </dgm:prSet>
      <dgm:spPr/>
    </dgm:pt>
  </dgm:ptLst>
  <dgm:cxnLst>
    <dgm:cxn modelId="{E432160F-341A-404F-B139-21220E8BAAA6}" srcId="{3D0C8157-D46E-49CB-999D-F1D37CA22B3E}" destId="{9B153B5D-100C-4CF5-B878-517F0AF6FF32}" srcOrd="5" destOrd="0" parTransId="{37D24B8D-34A4-43A7-BAC1-354E5B37A8AB}" sibTransId="{00B4EB92-B88D-49A1-8364-5B09D74221F0}"/>
    <dgm:cxn modelId="{A24F761B-9735-4D5F-BD01-D1DF1A22DF45}" srcId="{3D0C8157-D46E-49CB-999D-F1D37CA22B3E}" destId="{E8109387-C219-4750-8993-C7AFD0F8C5E3}" srcOrd="3" destOrd="0" parTransId="{4406CA77-9B2F-4B10-80CA-8EB28F34CE22}" sibTransId="{D7D51593-76CF-4EB4-AE65-2D97300E9D9B}"/>
    <dgm:cxn modelId="{D9A5A51E-43A1-4A34-8DA2-608BE720B428}" type="presOf" srcId="{9B153B5D-100C-4CF5-B878-517F0AF6FF32}" destId="{5DDF74A8-3CFC-43F1-AB59-FEDDA789E4FF}" srcOrd="0" destOrd="0" presId="urn:microsoft.com/office/officeart/2005/8/layout/default"/>
    <dgm:cxn modelId="{E937F840-893A-42DD-A9E3-497F09B4E79A}" type="presOf" srcId="{E8109387-C219-4750-8993-C7AFD0F8C5E3}" destId="{95DE17CA-9BFD-4741-BDC5-7846270820BD}" srcOrd="0" destOrd="0" presId="urn:microsoft.com/office/officeart/2005/8/layout/default"/>
    <dgm:cxn modelId="{793D5D4E-99BE-46E8-9B82-7CFB87FF64CB}" type="presOf" srcId="{76647EB8-3740-4759-8C54-D01754D593C2}" destId="{ACD5A81E-9DDE-4146-9CBF-40ADE8FB7D57}" srcOrd="0" destOrd="0" presId="urn:microsoft.com/office/officeart/2005/8/layout/default"/>
    <dgm:cxn modelId="{1DD7AC7E-911E-41FD-8FDB-8EAC338F0A77}" type="presOf" srcId="{6F512BAB-3F20-4D90-80C7-BAF3FDAD450D}" destId="{7C347846-A987-4054-8AED-BFBEA63230FB}" srcOrd="0" destOrd="0" presId="urn:microsoft.com/office/officeart/2005/8/layout/default"/>
    <dgm:cxn modelId="{32158FB9-980F-49AF-A11B-A28746DB9D4E}" srcId="{3D0C8157-D46E-49CB-999D-F1D37CA22B3E}" destId="{76647EB8-3740-4759-8C54-D01754D593C2}" srcOrd="4" destOrd="0" parTransId="{3951BD73-348F-4B2A-A68A-D9079271CD97}" sibTransId="{3DB7A19F-8865-402D-85CE-BB02FB49409A}"/>
    <dgm:cxn modelId="{97B740BE-AEFF-4833-AEB5-561C42A81DC4}" srcId="{3D0C8157-D46E-49CB-999D-F1D37CA22B3E}" destId="{6F512BAB-3F20-4D90-80C7-BAF3FDAD450D}" srcOrd="1" destOrd="0" parTransId="{057F942D-CB0C-4C8B-A892-FABEC15043D7}" sibTransId="{75C51F8E-B400-4584-A229-C32B138F8024}"/>
    <dgm:cxn modelId="{A75830CA-748F-48C0-BF11-198EF43373E6}" srcId="{3D0C8157-D46E-49CB-999D-F1D37CA22B3E}" destId="{B89DCFAC-094F-4273-8EF2-2B5550D56545}" srcOrd="2" destOrd="0" parTransId="{68926DF5-4263-4897-8269-6256EDCF39B9}" sibTransId="{0B082384-3ACE-4523-A41B-021586004D54}"/>
    <dgm:cxn modelId="{5A962FE2-95F4-4A7D-95A9-CFD55EA0C3E4}" srcId="{3D0C8157-D46E-49CB-999D-F1D37CA22B3E}" destId="{A8D5F795-F1E6-441F-A626-AE77BB9E3FA0}" srcOrd="0" destOrd="0" parTransId="{A95F3E29-2A54-4267-904E-394D632AE2FC}" sibTransId="{8F98A1EC-067C-4D7B-8B03-2E39998398FB}"/>
    <dgm:cxn modelId="{BFFF66E5-4712-40E6-83F2-51F845B096E6}" type="presOf" srcId="{B89DCFAC-094F-4273-8EF2-2B5550D56545}" destId="{54F9420A-DE3D-4C2B-9A3B-D775B0350C63}" srcOrd="0" destOrd="0" presId="urn:microsoft.com/office/officeart/2005/8/layout/default"/>
    <dgm:cxn modelId="{4C435FF3-D370-47F9-B819-0E03B539AB35}" type="presOf" srcId="{A8D5F795-F1E6-441F-A626-AE77BB9E3FA0}" destId="{56E5DE67-BD8A-4110-A786-A7CD21BB00A5}" srcOrd="0" destOrd="0" presId="urn:microsoft.com/office/officeart/2005/8/layout/default"/>
    <dgm:cxn modelId="{0DE5FEF4-B4DE-457E-8A6B-64EA6859A556}" type="presOf" srcId="{3D0C8157-D46E-49CB-999D-F1D37CA22B3E}" destId="{2EE507D5-3945-47F2-A4DD-5A9CF4D7C824}" srcOrd="0" destOrd="0" presId="urn:microsoft.com/office/officeart/2005/8/layout/default"/>
    <dgm:cxn modelId="{B357F737-E3FE-4F05-987A-988077FD4ABA}" type="presParOf" srcId="{2EE507D5-3945-47F2-A4DD-5A9CF4D7C824}" destId="{56E5DE67-BD8A-4110-A786-A7CD21BB00A5}" srcOrd="0" destOrd="0" presId="urn:microsoft.com/office/officeart/2005/8/layout/default"/>
    <dgm:cxn modelId="{091F8327-4C76-4668-8D1C-E905C010065F}" type="presParOf" srcId="{2EE507D5-3945-47F2-A4DD-5A9CF4D7C824}" destId="{4E92E181-97DF-4828-830B-2A6197E79D2B}" srcOrd="1" destOrd="0" presId="urn:microsoft.com/office/officeart/2005/8/layout/default"/>
    <dgm:cxn modelId="{4DED7552-B200-4144-A363-997AF447ACC9}" type="presParOf" srcId="{2EE507D5-3945-47F2-A4DD-5A9CF4D7C824}" destId="{7C347846-A987-4054-8AED-BFBEA63230FB}" srcOrd="2" destOrd="0" presId="urn:microsoft.com/office/officeart/2005/8/layout/default"/>
    <dgm:cxn modelId="{6823E03B-FEDE-415D-B5A8-B939F562946B}" type="presParOf" srcId="{2EE507D5-3945-47F2-A4DD-5A9CF4D7C824}" destId="{7F672D91-9A19-4FD0-B4D6-651324BE5207}" srcOrd="3" destOrd="0" presId="urn:microsoft.com/office/officeart/2005/8/layout/default"/>
    <dgm:cxn modelId="{C3047D60-8F5C-44BD-89B8-20320570FCC9}" type="presParOf" srcId="{2EE507D5-3945-47F2-A4DD-5A9CF4D7C824}" destId="{54F9420A-DE3D-4C2B-9A3B-D775B0350C63}" srcOrd="4" destOrd="0" presId="urn:microsoft.com/office/officeart/2005/8/layout/default"/>
    <dgm:cxn modelId="{51610381-9334-4FAB-939B-0B1F5AB01DE2}" type="presParOf" srcId="{2EE507D5-3945-47F2-A4DD-5A9CF4D7C824}" destId="{A825B9A3-1969-45B6-84E0-D77803B26643}" srcOrd="5" destOrd="0" presId="urn:microsoft.com/office/officeart/2005/8/layout/default"/>
    <dgm:cxn modelId="{775F047B-154C-4A85-8686-B78A1BFB0C7E}" type="presParOf" srcId="{2EE507D5-3945-47F2-A4DD-5A9CF4D7C824}" destId="{95DE17CA-9BFD-4741-BDC5-7846270820BD}" srcOrd="6" destOrd="0" presId="urn:microsoft.com/office/officeart/2005/8/layout/default"/>
    <dgm:cxn modelId="{59F053EA-E24F-42CF-909B-8605C305D8ED}" type="presParOf" srcId="{2EE507D5-3945-47F2-A4DD-5A9CF4D7C824}" destId="{8C2FEB54-CEAA-4BD2-9C53-D83A41B06281}" srcOrd="7" destOrd="0" presId="urn:microsoft.com/office/officeart/2005/8/layout/default"/>
    <dgm:cxn modelId="{598F55CB-11AB-446A-A6F8-93B2920A01CC}" type="presParOf" srcId="{2EE507D5-3945-47F2-A4DD-5A9CF4D7C824}" destId="{ACD5A81E-9DDE-4146-9CBF-40ADE8FB7D57}" srcOrd="8" destOrd="0" presId="urn:microsoft.com/office/officeart/2005/8/layout/default"/>
    <dgm:cxn modelId="{DD32DBC9-EB69-4EDE-9E63-1AF5C105AA17}" type="presParOf" srcId="{2EE507D5-3945-47F2-A4DD-5A9CF4D7C824}" destId="{925AED4C-EE77-41FF-A278-44C836E47DAA}" srcOrd="9" destOrd="0" presId="urn:microsoft.com/office/officeart/2005/8/layout/default"/>
    <dgm:cxn modelId="{98027B84-F414-42A1-A86C-7A48195FDD43}" type="presParOf" srcId="{2EE507D5-3945-47F2-A4DD-5A9CF4D7C824}" destId="{5DDF74A8-3CFC-43F1-AB59-FEDDA789E4F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E5DE67-BD8A-4110-A786-A7CD21BB00A5}">
      <dsp:nvSpPr>
        <dsp:cNvPr id="0" name=""/>
        <dsp:cNvSpPr/>
      </dsp:nvSpPr>
      <dsp:spPr>
        <a:xfrm>
          <a:off x="882650" y="214"/>
          <a:ext cx="2006750" cy="12040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882650" y="214"/>
        <a:ext cx="2006750" cy="1204050"/>
      </dsp:txXfrm>
    </dsp:sp>
    <dsp:sp modelId="{7C347846-A987-4054-8AED-BFBEA63230FB}">
      <dsp:nvSpPr>
        <dsp:cNvPr id="0" name=""/>
        <dsp:cNvSpPr/>
      </dsp:nvSpPr>
      <dsp:spPr>
        <a:xfrm>
          <a:off x="3090075" y="214"/>
          <a:ext cx="2006750" cy="12040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Mathematical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Model</a:t>
          </a:r>
        </a:p>
      </dsp:txBody>
      <dsp:txXfrm>
        <a:off x="3090075" y="214"/>
        <a:ext cx="2006750" cy="1204050"/>
      </dsp:txXfrm>
    </dsp:sp>
    <dsp:sp modelId="{54F9420A-DE3D-4C2B-9A3B-D775B0350C63}">
      <dsp:nvSpPr>
        <dsp:cNvPr id="0" name=""/>
        <dsp:cNvSpPr/>
      </dsp:nvSpPr>
      <dsp:spPr>
        <a:xfrm>
          <a:off x="5297501" y="214"/>
          <a:ext cx="2006750" cy="12040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PID performance</a:t>
          </a:r>
        </a:p>
      </dsp:txBody>
      <dsp:txXfrm>
        <a:off x="5297501" y="214"/>
        <a:ext cx="2006750" cy="1204050"/>
      </dsp:txXfrm>
    </dsp:sp>
    <dsp:sp modelId="{95DE17CA-9BFD-4741-BDC5-7846270820BD}">
      <dsp:nvSpPr>
        <dsp:cNvPr id="0" name=""/>
        <dsp:cNvSpPr/>
      </dsp:nvSpPr>
      <dsp:spPr>
        <a:xfrm>
          <a:off x="882650" y="1404940"/>
          <a:ext cx="2006750" cy="12040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MPC Parameters </a:t>
          </a:r>
        </a:p>
      </dsp:txBody>
      <dsp:txXfrm>
        <a:off x="882650" y="1404940"/>
        <a:ext cx="2006750" cy="1204050"/>
      </dsp:txXfrm>
    </dsp:sp>
    <dsp:sp modelId="{ACD5A81E-9DDE-4146-9CBF-40ADE8FB7D57}">
      <dsp:nvSpPr>
        <dsp:cNvPr id="0" name=""/>
        <dsp:cNvSpPr/>
      </dsp:nvSpPr>
      <dsp:spPr>
        <a:xfrm>
          <a:off x="3090075" y="1404940"/>
          <a:ext cx="2006750" cy="12040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MPC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</a:p>
      </dsp:txBody>
      <dsp:txXfrm>
        <a:off x="3090075" y="1404940"/>
        <a:ext cx="2006750" cy="1204050"/>
      </dsp:txXfrm>
    </dsp:sp>
    <dsp:sp modelId="{5DDF74A8-3CFC-43F1-AB59-FEDDA789E4FF}">
      <dsp:nvSpPr>
        <dsp:cNvPr id="0" name=""/>
        <dsp:cNvSpPr/>
      </dsp:nvSpPr>
      <dsp:spPr>
        <a:xfrm>
          <a:off x="5297501" y="1404940"/>
          <a:ext cx="2006750" cy="120405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Conclusion</a:t>
          </a:r>
        </a:p>
      </dsp:txBody>
      <dsp:txXfrm>
        <a:off x="5297501" y="1404940"/>
        <a:ext cx="2006750" cy="1204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3706-55BF-43F0-B52D-CB820B6BB4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38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FC3706-55BF-43F0-B52D-CB820B6BB4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16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34003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4" name="Google Shape;2074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628649" y="1282446"/>
            <a:ext cx="7886700" cy="20574"/>
          </a:xfrm>
          <a:custGeom>
            <a:avLst/>
            <a:gdLst>
              <a:gd name="connsiteX0" fmla="*/ 0 w 7886700"/>
              <a:gd name="connsiteY0" fmla="*/ 0 h 20574"/>
              <a:gd name="connsiteX1" fmla="*/ 420624 w 7886700"/>
              <a:gd name="connsiteY1" fmla="*/ 0 h 20574"/>
              <a:gd name="connsiteX2" fmla="*/ 1156716 w 7886700"/>
              <a:gd name="connsiteY2" fmla="*/ 0 h 20574"/>
              <a:gd name="connsiteX3" fmla="*/ 1577340 w 7886700"/>
              <a:gd name="connsiteY3" fmla="*/ 0 h 20574"/>
              <a:gd name="connsiteX4" fmla="*/ 2155698 w 7886700"/>
              <a:gd name="connsiteY4" fmla="*/ 0 h 20574"/>
              <a:gd name="connsiteX5" fmla="*/ 2970657 w 7886700"/>
              <a:gd name="connsiteY5" fmla="*/ 0 h 20574"/>
              <a:gd name="connsiteX6" fmla="*/ 3627882 w 7886700"/>
              <a:gd name="connsiteY6" fmla="*/ 0 h 20574"/>
              <a:gd name="connsiteX7" fmla="*/ 4363974 w 7886700"/>
              <a:gd name="connsiteY7" fmla="*/ 0 h 20574"/>
              <a:gd name="connsiteX8" fmla="*/ 4942332 w 7886700"/>
              <a:gd name="connsiteY8" fmla="*/ 0 h 20574"/>
              <a:gd name="connsiteX9" fmla="*/ 5599557 w 7886700"/>
              <a:gd name="connsiteY9" fmla="*/ 0 h 20574"/>
              <a:gd name="connsiteX10" fmla="*/ 6414516 w 7886700"/>
              <a:gd name="connsiteY10" fmla="*/ 0 h 20574"/>
              <a:gd name="connsiteX11" fmla="*/ 6914007 w 7886700"/>
              <a:gd name="connsiteY11" fmla="*/ 0 h 20574"/>
              <a:gd name="connsiteX12" fmla="*/ 7886700 w 7886700"/>
              <a:gd name="connsiteY12" fmla="*/ 0 h 20574"/>
              <a:gd name="connsiteX13" fmla="*/ 7886700 w 7886700"/>
              <a:gd name="connsiteY13" fmla="*/ 20574 h 20574"/>
              <a:gd name="connsiteX14" fmla="*/ 7308342 w 7886700"/>
              <a:gd name="connsiteY14" fmla="*/ 20574 h 20574"/>
              <a:gd name="connsiteX15" fmla="*/ 6887718 w 7886700"/>
              <a:gd name="connsiteY15" fmla="*/ 20574 h 20574"/>
              <a:gd name="connsiteX16" fmla="*/ 6230493 w 7886700"/>
              <a:gd name="connsiteY16" fmla="*/ 20574 h 20574"/>
              <a:gd name="connsiteX17" fmla="*/ 5731002 w 7886700"/>
              <a:gd name="connsiteY17" fmla="*/ 20574 h 20574"/>
              <a:gd name="connsiteX18" fmla="*/ 5073777 w 7886700"/>
              <a:gd name="connsiteY18" fmla="*/ 20574 h 20574"/>
              <a:gd name="connsiteX19" fmla="*/ 4416552 w 7886700"/>
              <a:gd name="connsiteY19" fmla="*/ 20574 h 20574"/>
              <a:gd name="connsiteX20" fmla="*/ 3759327 w 7886700"/>
              <a:gd name="connsiteY20" fmla="*/ 20574 h 20574"/>
              <a:gd name="connsiteX21" fmla="*/ 3102102 w 7886700"/>
              <a:gd name="connsiteY21" fmla="*/ 20574 h 20574"/>
              <a:gd name="connsiteX22" fmla="*/ 2523744 w 7886700"/>
              <a:gd name="connsiteY22" fmla="*/ 20574 h 20574"/>
              <a:gd name="connsiteX23" fmla="*/ 1787652 w 7886700"/>
              <a:gd name="connsiteY23" fmla="*/ 20574 h 20574"/>
              <a:gd name="connsiteX24" fmla="*/ 1130427 w 7886700"/>
              <a:gd name="connsiteY24" fmla="*/ 20574 h 20574"/>
              <a:gd name="connsiteX25" fmla="*/ 0 w 7886700"/>
              <a:gd name="connsiteY25" fmla="*/ 20574 h 20574"/>
              <a:gd name="connsiteX26" fmla="*/ 0 w 7886700"/>
              <a:gd name="connsiteY26" fmla="*/ 0 h 20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86700" h="20574" fill="none" extrusionOk="0">
                <a:moveTo>
                  <a:pt x="0" y="0"/>
                </a:moveTo>
                <a:cubicBezTo>
                  <a:pt x="157525" y="2723"/>
                  <a:pt x="287389" y="-6453"/>
                  <a:pt x="420624" y="0"/>
                </a:cubicBezTo>
                <a:cubicBezTo>
                  <a:pt x="553859" y="6453"/>
                  <a:pt x="825625" y="29874"/>
                  <a:pt x="1156716" y="0"/>
                </a:cubicBezTo>
                <a:cubicBezTo>
                  <a:pt x="1487807" y="-29874"/>
                  <a:pt x="1467015" y="9632"/>
                  <a:pt x="1577340" y="0"/>
                </a:cubicBezTo>
                <a:cubicBezTo>
                  <a:pt x="1687665" y="-9632"/>
                  <a:pt x="2024250" y="19395"/>
                  <a:pt x="2155698" y="0"/>
                </a:cubicBezTo>
                <a:cubicBezTo>
                  <a:pt x="2287146" y="-19395"/>
                  <a:pt x="2775210" y="-36481"/>
                  <a:pt x="2970657" y="0"/>
                </a:cubicBezTo>
                <a:cubicBezTo>
                  <a:pt x="3166104" y="36481"/>
                  <a:pt x="3456933" y="2822"/>
                  <a:pt x="3627882" y="0"/>
                </a:cubicBezTo>
                <a:cubicBezTo>
                  <a:pt x="3798831" y="-2822"/>
                  <a:pt x="4063535" y="23706"/>
                  <a:pt x="4363974" y="0"/>
                </a:cubicBezTo>
                <a:cubicBezTo>
                  <a:pt x="4664413" y="-23706"/>
                  <a:pt x="4721338" y="-85"/>
                  <a:pt x="4942332" y="0"/>
                </a:cubicBezTo>
                <a:cubicBezTo>
                  <a:pt x="5163326" y="85"/>
                  <a:pt x="5298512" y="10710"/>
                  <a:pt x="5599557" y="0"/>
                </a:cubicBezTo>
                <a:cubicBezTo>
                  <a:pt x="5900603" y="-10710"/>
                  <a:pt x="6095214" y="3467"/>
                  <a:pt x="6414516" y="0"/>
                </a:cubicBezTo>
                <a:cubicBezTo>
                  <a:pt x="6733818" y="-3467"/>
                  <a:pt x="6803711" y="5617"/>
                  <a:pt x="6914007" y="0"/>
                </a:cubicBezTo>
                <a:cubicBezTo>
                  <a:pt x="7024303" y="-5617"/>
                  <a:pt x="7602090" y="-33929"/>
                  <a:pt x="7886700" y="0"/>
                </a:cubicBezTo>
                <a:cubicBezTo>
                  <a:pt x="7887140" y="6295"/>
                  <a:pt x="7885688" y="11558"/>
                  <a:pt x="7886700" y="20574"/>
                </a:cubicBezTo>
                <a:cubicBezTo>
                  <a:pt x="7637258" y="10284"/>
                  <a:pt x="7575695" y="9871"/>
                  <a:pt x="7308342" y="20574"/>
                </a:cubicBezTo>
                <a:cubicBezTo>
                  <a:pt x="7040989" y="31277"/>
                  <a:pt x="7003134" y="37163"/>
                  <a:pt x="6887718" y="20574"/>
                </a:cubicBezTo>
                <a:cubicBezTo>
                  <a:pt x="6772302" y="3985"/>
                  <a:pt x="6488136" y="51389"/>
                  <a:pt x="6230493" y="20574"/>
                </a:cubicBezTo>
                <a:cubicBezTo>
                  <a:pt x="5972851" y="-10241"/>
                  <a:pt x="5929971" y="28764"/>
                  <a:pt x="5731002" y="20574"/>
                </a:cubicBezTo>
                <a:cubicBezTo>
                  <a:pt x="5532033" y="12384"/>
                  <a:pt x="5381360" y="21850"/>
                  <a:pt x="5073777" y="20574"/>
                </a:cubicBezTo>
                <a:cubicBezTo>
                  <a:pt x="4766194" y="19298"/>
                  <a:pt x="4713365" y="22453"/>
                  <a:pt x="4416552" y="20574"/>
                </a:cubicBezTo>
                <a:cubicBezTo>
                  <a:pt x="4119740" y="18695"/>
                  <a:pt x="3915304" y="21560"/>
                  <a:pt x="3759327" y="20574"/>
                </a:cubicBezTo>
                <a:cubicBezTo>
                  <a:pt x="3603351" y="19588"/>
                  <a:pt x="3375414" y="14360"/>
                  <a:pt x="3102102" y="20574"/>
                </a:cubicBezTo>
                <a:cubicBezTo>
                  <a:pt x="2828791" y="26788"/>
                  <a:pt x="2795766" y="12603"/>
                  <a:pt x="2523744" y="20574"/>
                </a:cubicBezTo>
                <a:cubicBezTo>
                  <a:pt x="2251722" y="28545"/>
                  <a:pt x="1947642" y="25435"/>
                  <a:pt x="1787652" y="20574"/>
                </a:cubicBezTo>
                <a:cubicBezTo>
                  <a:pt x="1627662" y="15713"/>
                  <a:pt x="1413335" y="22807"/>
                  <a:pt x="1130427" y="20574"/>
                </a:cubicBezTo>
                <a:cubicBezTo>
                  <a:pt x="847520" y="18341"/>
                  <a:pt x="292942" y="-20486"/>
                  <a:pt x="0" y="20574"/>
                </a:cubicBezTo>
                <a:cubicBezTo>
                  <a:pt x="929" y="11485"/>
                  <a:pt x="125" y="9213"/>
                  <a:pt x="0" y="0"/>
                </a:cubicBezTo>
                <a:close/>
              </a:path>
              <a:path w="7886700" h="20574" stroke="0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887055" y="5465"/>
                  <a:pt x="7886440" y="14230"/>
                  <a:pt x="7886700" y="20574"/>
                </a:cubicBezTo>
                <a:cubicBezTo>
                  <a:pt x="7752936" y="30980"/>
                  <a:pt x="7671143" y="15382"/>
                  <a:pt x="7466076" y="20574"/>
                </a:cubicBezTo>
                <a:cubicBezTo>
                  <a:pt x="7261009" y="25766"/>
                  <a:pt x="7039949" y="39034"/>
                  <a:pt x="6651117" y="20574"/>
                </a:cubicBezTo>
                <a:cubicBezTo>
                  <a:pt x="6262285" y="2114"/>
                  <a:pt x="6379660" y="14574"/>
                  <a:pt x="6151626" y="20574"/>
                </a:cubicBezTo>
                <a:cubicBezTo>
                  <a:pt x="5923592" y="26574"/>
                  <a:pt x="5816137" y="42595"/>
                  <a:pt x="5494401" y="20574"/>
                </a:cubicBezTo>
                <a:cubicBezTo>
                  <a:pt x="5172665" y="-1447"/>
                  <a:pt x="5022009" y="7288"/>
                  <a:pt x="4679442" y="20574"/>
                </a:cubicBezTo>
                <a:cubicBezTo>
                  <a:pt x="4336875" y="33860"/>
                  <a:pt x="4169241" y="-11410"/>
                  <a:pt x="4022217" y="20574"/>
                </a:cubicBezTo>
                <a:cubicBezTo>
                  <a:pt x="3875193" y="52558"/>
                  <a:pt x="3723776" y="39340"/>
                  <a:pt x="3601593" y="20574"/>
                </a:cubicBezTo>
                <a:cubicBezTo>
                  <a:pt x="3479410" y="1808"/>
                  <a:pt x="3283834" y="13589"/>
                  <a:pt x="3102102" y="20574"/>
                </a:cubicBezTo>
                <a:cubicBezTo>
                  <a:pt x="2920370" y="27559"/>
                  <a:pt x="2467386" y="28546"/>
                  <a:pt x="2287143" y="20574"/>
                </a:cubicBezTo>
                <a:cubicBezTo>
                  <a:pt x="2106900" y="12602"/>
                  <a:pt x="1798848" y="52698"/>
                  <a:pt x="1629918" y="20574"/>
                </a:cubicBezTo>
                <a:cubicBezTo>
                  <a:pt x="1460989" y="-11550"/>
                  <a:pt x="1324115" y="28055"/>
                  <a:pt x="1130427" y="20574"/>
                </a:cubicBezTo>
                <a:cubicBezTo>
                  <a:pt x="936739" y="13093"/>
                  <a:pt x="302034" y="23285"/>
                  <a:pt x="0" y="20574"/>
                </a:cubicBezTo>
                <a:cubicBezTo>
                  <a:pt x="-40" y="12796"/>
                  <a:pt x="-161" y="5458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15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6" r:id="rId3"/>
    <p:sldLayoutId id="2147483659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104001" y="364843"/>
            <a:ext cx="6122072" cy="1416300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024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Mastering MPC USING MATLAB</a:t>
            </a:r>
            <a:endParaRPr sz="4400" b="1" dirty="0">
              <a:solidFill>
                <a:srgbClr val="0244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8A526AA1-CDA9-1291-1731-CBDD1CB66547}"/>
              </a:ext>
            </a:extLst>
          </p:cNvPr>
          <p:cNvSpPr txBox="1"/>
          <p:nvPr/>
        </p:nvSpPr>
        <p:spPr>
          <a:xfrm>
            <a:off x="2661285" y="341038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br>
              <a:rPr lang="en-US" dirty="0"/>
            </a:br>
            <a:endParaRPr lang="en-US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06DA1CF7-4D79-2D19-21C2-362E99A146E8}"/>
              </a:ext>
            </a:extLst>
          </p:cNvPr>
          <p:cNvSpPr txBox="1"/>
          <p:nvPr/>
        </p:nvSpPr>
        <p:spPr>
          <a:xfrm>
            <a:off x="1087750" y="3264272"/>
            <a:ext cx="20772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24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SUMO ROBOT </a:t>
            </a:r>
          </a:p>
        </p:txBody>
      </p:sp>
      <p:pic>
        <p:nvPicPr>
          <p:cNvPr id="1026" name="Picture 2" descr="لا يتوفر وصف.">
            <a:extLst>
              <a:ext uri="{FF2B5EF4-FFF2-40B4-BE49-F238E27FC236}">
                <a16:creationId xmlns:a16="http://schemas.microsoft.com/office/drawing/2014/main" id="{A9B2BF88-B526-584D-F44E-6B1F6A7F9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187" y="2406886"/>
            <a:ext cx="4002258" cy="22532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0550-3D55-54D4-28EB-9707556C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75522"/>
            <a:ext cx="8191230" cy="986024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BD968628-8391-849A-E92A-AEC16DE547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766912"/>
              </p:ext>
            </p:extLst>
          </p:nvPr>
        </p:nvGraphicFramePr>
        <p:xfrm>
          <a:off x="474486" y="2103824"/>
          <a:ext cx="8186902" cy="2609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D55E55-6150-49A6-8B14-D92067C6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عنوان 8">
            <a:extLst>
              <a:ext uri="{FF2B5EF4-FFF2-40B4-BE49-F238E27FC236}">
                <a16:creationId xmlns:a16="http://schemas.microsoft.com/office/drawing/2014/main" id="{F365FFA2-5D22-CB7A-FE93-CE0370B5C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05600"/>
            <a:ext cx="6881297" cy="108270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sumo robot ?</a:t>
            </a:r>
            <a:r>
              <a:rPr lang="e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950A918C-210D-A156-6BFF-B48C32BD2B1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3</a:t>
            </a:fld>
            <a:endParaRPr lang="en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4556111-0589-429F-9833-803AF80F5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212157" y="2439007"/>
            <a:ext cx="3402854" cy="16973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406;p15">
            <a:extLst>
              <a:ext uri="{FF2B5EF4-FFF2-40B4-BE49-F238E27FC236}">
                <a16:creationId xmlns:a16="http://schemas.microsoft.com/office/drawing/2014/main" id="{61EAF82A-B75A-49D2-BFAB-B5A68366C2DC}"/>
              </a:ext>
            </a:extLst>
          </p:cNvPr>
          <p:cNvSpPr txBox="1">
            <a:spLocks/>
          </p:cNvSpPr>
          <p:nvPr/>
        </p:nvSpPr>
        <p:spPr>
          <a:xfrm>
            <a:off x="528989" y="2439007"/>
            <a:ext cx="4162350" cy="13350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robotics competition category that simulates the Japanese national wrestling sport. The autonomous type is operated by itself with a computer code loaded into its system.</a:t>
            </a:r>
          </a:p>
        </p:txBody>
      </p:sp>
    </p:spTree>
    <p:extLst>
      <p:ext uri="{BB962C8B-B14F-4D97-AF65-F5344CB8AC3E}">
        <p14:creationId xmlns:p14="http://schemas.microsoft.com/office/powerpoint/2010/main" val="207926624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عنوان 8">
            <a:extLst>
              <a:ext uri="{FF2B5EF4-FFF2-40B4-BE49-F238E27FC236}">
                <a16:creationId xmlns:a16="http://schemas.microsoft.com/office/drawing/2014/main" id="{F365FFA2-5D22-CB7A-FE93-CE0370B5C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05600"/>
            <a:ext cx="6881297" cy="108270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950A918C-210D-A156-6BFF-B48C32BD2B1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4</a:t>
            </a:fld>
            <a:endParaRPr lang="en"/>
          </a:p>
        </p:txBody>
      </p:sp>
      <p:pic>
        <p:nvPicPr>
          <p:cNvPr id="32" name="صورة 31" descr="صورة تحتوي على قصاصة فنية, رسم, خيال/ صورة ظليلة, فن&#10;&#10;تم إنشاء الوصف تلقائياً">
            <a:extLst>
              <a:ext uri="{FF2B5EF4-FFF2-40B4-BE49-F238E27FC236}">
                <a16:creationId xmlns:a16="http://schemas.microsoft.com/office/drawing/2014/main" id="{FFC656FC-70DE-7308-3706-31AEC7625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089" y="2818912"/>
            <a:ext cx="1467611" cy="1467611"/>
          </a:xfrm>
          <a:prstGeom prst="rect">
            <a:avLst/>
          </a:prstGeom>
        </p:spPr>
      </p:pic>
      <p:pic>
        <p:nvPicPr>
          <p:cNvPr id="8" name="صورة 7">
            <a:extLst>
              <a:ext uri="{FF2B5EF4-FFF2-40B4-BE49-F238E27FC236}">
                <a16:creationId xmlns:a16="http://schemas.microsoft.com/office/drawing/2014/main" id="{187928B6-668C-11D6-3074-2020177BC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69" y="2298035"/>
            <a:ext cx="2726039" cy="1833880"/>
          </a:xfrm>
          <a:prstGeom prst="rect">
            <a:avLst/>
          </a:prstGeom>
        </p:spPr>
      </p:pic>
      <p:pic>
        <p:nvPicPr>
          <p:cNvPr id="15" name="Picture 2" descr="Adjustable IR Sensor Proximity Switch 3~80cm - E-18-D80NK">
            <a:hlinkClick r:id="rId4" action="ppaction://hlinksldjump"/>
            <a:extLst>
              <a:ext uri="{FF2B5EF4-FFF2-40B4-BE49-F238E27FC236}">
                <a16:creationId xmlns:a16="http://schemas.microsoft.com/office/drawing/2014/main" id="{CF01C159-CA73-8CD3-17FB-EE342239E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31" y="2818912"/>
            <a:ext cx="1284026" cy="128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2V DC Motor 251RPM w/Encoder - RobotShop">
            <a:extLst>
              <a:ext uri="{FF2B5EF4-FFF2-40B4-BE49-F238E27FC236}">
                <a16:creationId xmlns:a16="http://schemas.microsoft.com/office/drawing/2014/main" id="{4AD9487C-2E55-8E18-23D0-046870E92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89" y="2298035"/>
            <a:ext cx="2222695" cy="222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8694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224D190-1C93-2733-3314-BD561E13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05600"/>
            <a:ext cx="7952951" cy="723797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Sensors-Motors relationship</a:t>
            </a: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7E665044-1AF7-78FF-5C2D-59C72D4D79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 dirty="0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96193912-990A-A3B8-5DCB-4C7817A34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609" y="1802810"/>
            <a:ext cx="3689013" cy="2600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10BC9C6D-96C7-AC16-93A8-F1166A7D7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106584"/>
            <a:ext cx="4275882" cy="199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2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B465-0E57-6325-6EC0-1AE5AB2F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AD4375-687E-84E3-0672-31FF1CCD5B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8910"/>
                <a:ext cx="7886700" cy="35321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400" b="1" kern="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DC motor modeling</a:t>
                </a:r>
              </a:p>
              <a:p>
                <a:r>
                  <a:rPr lang="en-US" sz="1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 a dc motor open-loop dynamic equation is</a:t>
                </a:r>
                <a:r>
                  <a:rPr lang="en-US" sz="1400" b="1" kern="1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en-US" sz="1400" b="1" kern="1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𝐿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𝑖𝑅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𝐽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 this study, DC motor with encoder is used. The model parameters are shown in Table 1</a:t>
                </a: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AD4375-687E-84E3-0672-31FF1CCD5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8910"/>
                <a:ext cx="7886700" cy="3532156"/>
              </a:xfrm>
              <a:blipFill>
                <a:blip r:embed="rId3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D76F2C-0296-3800-21C4-41EB84F33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61062"/>
              </p:ext>
            </p:extLst>
          </p:nvPr>
        </p:nvGraphicFramePr>
        <p:xfrm>
          <a:off x="2213494" y="3631620"/>
          <a:ext cx="4714726" cy="1127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1641">
                  <a:extLst>
                    <a:ext uri="{9D8B030D-6E8A-4147-A177-3AD203B41FA5}">
                      <a16:colId xmlns:a16="http://schemas.microsoft.com/office/drawing/2014/main" val="251814579"/>
                    </a:ext>
                  </a:extLst>
                </a:gridCol>
                <a:gridCol w="1823085">
                  <a:extLst>
                    <a:ext uri="{9D8B030D-6E8A-4147-A177-3AD203B41FA5}">
                      <a16:colId xmlns:a16="http://schemas.microsoft.com/office/drawing/2014/main" val="807403969"/>
                    </a:ext>
                  </a:extLst>
                </a:gridCol>
              </a:tblGrid>
              <a:tr h="2716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206758147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4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(Armature Resistance)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ohms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2980972487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1400" kern="100" baseline="-25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(Armature Inductance)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en-US" sz="14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mH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292256390"/>
                  </a:ext>
                </a:extLst>
              </a:tr>
              <a:tr h="27165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Nominal Voltage 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5V 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764434358"/>
                  </a:ext>
                </a:extLst>
              </a:tr>
            </a:tbl>
          </a:graphicData>
        </a:graphic>
      </p:graphicFrame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AC4B867-6E81-4614-A79C-4FF4810EF6F8}"/>
              </a:ext>
            </a:extLst>
          </p:cNvPr>
          <p:cNvSpPr/>
          <p:nvPr/>
        </p:nvSpPr>
        <p:spPr>
          <a:xfrm>
            <a:off x="8698749" y="4674901"/>
            <a:ext cx="456900" cy="468599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692F7-D63E-46B7-9A27-BE7A5CDA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49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B465-0E57-6325-6EC0-1AE5AB2F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AD4375-687E-84E3-0672-31FF1CCD5B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7038"/>
                <a:ext cx="7886700" cy="3532156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In order to obtain the characteristics of the system, the system feed with several step voltage have magnitude at 14V and 15V. </a:t>
                </a:r>
              </a:p>
              <a:p>
                <a:pPr marL="0" indent="0">
                  <a:buNone/>
                </a:pPr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𝐸𝑠𝑡𝑖𝑚𝑎𝑡𝑒𝑑</m:t>
                    </m:r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𝑡𝑟𝑎𝑛𝑠𝑓𝑒𝑟</m:t>
                    </m:r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𝑓𝑢𝑛𝑐𝑡𝑖𝑜𝑛</m:t>
                    </m:r>
                    <m:r>
                      <a:rPr lang="en-US" sz="14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676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5833</m:t>
                        </m:r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629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AD4375-687E-84E3-0672-31FF1CCD5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038"/>
                <a:ext cx="7886700" cy="3532156"/>
              </a:xfrm>
              <a:blipFill>
                <a:blip r:embed="rId3"/>
                <a:stretch>
                  <a:fillRect l="-232" t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n a screen&#10;&#10;Description automatically generated">
            <a:extLst>
              <a:ext uri="{FF2B5EF4-FFF2-40B4-BE49-F238E27FC236}">
                <a16:creationId xmlns:a16="http://schemas.microsoft.com/office/drawing/2014/main" id="{22FCBDA2-7104-2DD0-E616-72D99CB63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45" y="2202973"/>
            <a:ext cx="3716024" cy="1747448"/>
          </a:xfrm>
          <a:prstGeom prst="rect">
            <a:avLst/>
          </a:prstGeom>
        </p:spPr>
      </p:pic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5B16BFB-9D60-4923-817B-694E3FA564FA}"/>
              </a:ext>
            </a:extLst>
          </p:cNvPr>
          <p:cNvSpPr/>
          <p:nvPr/>
        </p:nvSpPr>
        <p:spPr>
          <a:xfrm>
            <a:off x="8698749" y="4674901"/>
            <a:ext cx="456900" cy="468599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CE765-1CF3-4383-B29A-E0B9A92A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52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085B9-3D58-6F45-A93F-7A05E374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PID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958213-B45E-D216-9F97-F3E4F8C01E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608009"/>
              </p:ext>
            </p:extLst>
          </p:nvPr>
        </p:nvGraphicFramePr>
        <p:xfrm>
          <a:off x="628650" y="1541860"/>
          <a:ext cx="8013574" cy="3207958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785572">
                  <a:extLst>
                    <a:ext uri="{9D8B030D-6E8A-4147-A177-3AD203B41FA5}">
                      <a16:colId xmlns:a16="http://schemas.microsoft.com/office/drawing/2014/main" val="2031623447"/>
                    </a:ext>
                  </a:extLst>
                </a:gridCol>
                <a:gridCol w="1571144">
                  <a:extLst>
                    <a:ext uri="{9D8B030D-6E8A-4147-A177-3AD203B41FA5}">
                      <a16:colId xmlns:a16="http://schemas.microsoft.com/office/drawing/2014/main" val="2828776128"/>
                    </a:ext>
                  </a:extLst>
                </a:gridCol>
                <a:gridCol w="1186714">
                  <a:extLst>
                    <a:ext uri="{9D8B030D-6E8A-4147-A177-3AD203B41FA5}">
                      <a16:colId xmlns:a16="http://schemas.microsoft.com/office/drawing/2014/main" val="795767613"/>
                    </a:ext>
                  </a:extLst>
                </a:gridCol>
                <a:gridCol w="1213643">
                  <a:extLst>
                    <a:ext uri="{9D8B030D-6E8A-4147-A177-3AD203B41FA5}">
                      <a16:colId xmlns:a16="http://schemas.microsoft.com/office/drawing/2014/main" val="2964408586"/>
                    </a:ext>
                  </a:extLst>
                </a:gridCol>
                <a:gridCol w="1213643">
                  <a:extLst>
                    <a:ext uri="{9D8B030D-6E8A-4147-A177-3AD203B41FA5}">
                      <a16:colId xmlns:a16="http://schemas.microsoft.com/office/drawing/2014/main" val="588168484"/>
                    </a:ext>
                  </a:extLst>
                </a:gridCol>
                <a:gridCol w="1141215">
                  <a:extLst>
                    <a:ext uri="{9D8B030D-6E8A-4147-A177-3AD203B41FA5}">
                      <a16:colId xmlns:a16="http://schemas.microsoft.com/office/drawing/2014/main" val="3178338430"/>
                    </a:ext>
                  </a:extLst>
                </a:gridCol>
                <a:gridCol w="901643">
                  <a:extLst>
                    <a:ext uri="{9D8B030D-6E8A-4147-A177-3AD203B41FA5}">
                      <a16:colId xmlns:a16="http://schemas.microsoft.com/office/drawing/2014/main" val="1455302354"/>
                    </a:ext>
                  </a:extLst>
                </a:gridCol>
              </a:tblGrid>
              <a:tr h="13648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</a:rPr>
                        <a:t>Sr No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Parameters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Without controller simulator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Simulated value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PI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Simulated value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PD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Simulated value</a:t>
                      </a: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PID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Tuning with C++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554444956"/>
                  </a:ext>
                </a:extLst>
              </a:tr>
              <a:tr h="3695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Settling Time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0.978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6.96 sec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0.467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7.29 sec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10.009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3709363214"/>
                  </a:ext>
                </a:extLst>
              </a:tr>
              <a:tr h="3695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2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</a:rPr>
                        <a:t>Rise Time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0.4401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1.75 sec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0.109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1.99 sec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10.009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3571874925"/>
                  </a:ext>
                </a:extLst>
              </a:tr>
              <a:tr h="3695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3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MP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0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12%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15.5%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7.51%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1.214%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544427068"/>
                  </a:ext>
                </a:extLst>
              </a:tr>
              <a:tr h="7344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</a:rPr>
                        <a:t>4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Ess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(AT 100 RPM)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59.2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0.765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1.6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>
                          <a:effectLst/>
                        </a:rPr>
                        <a:t>0.14</a:t>
                      </a:r>
                      <a:endParaRPr lang="en-US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kern="100" dirty="0">
                          <a:effectLst/>
                        </a:rPr>
                        <a:t>4.9</a:t>
                      </a:r>
                      <a:endParaRPr lang="en-US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 anchor="ctr"/>
                </a:tc>
                <a:extLst>
                  <a:ext uri="{0D108BD9-81ED-4DB2-BD59-A6C34878D82A}">
                    <a16:rowId xmlns:a16="http://schemas.microsoft.com/office/drawing/2014/main" val="890375092"/>
                  </a:ext>
                </a:extLst>
              </a:tr>
            </a:tbl>
          </a:graphicData>
        </a:graphic>
      </p:graphicFrame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9333BF22-E7AE-4E4C-9E82-0ABDCC226AD6}"/>
              </a:ext>
            </a:extLst>
          </p:cNvPr>
          <p:cNvSpPr/>
          <p:nvPr/>
        </p:nvSpPr>
        <p:spPr>
          <a:xfrm>
            <a:off x="8698749" y="4674901"/>
            <a:ext cx="456900" cy="468599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DF7A8-8BED-423D-8265-DF3CEC31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DE6461-43CA-4F01-67ED-1BD1DEBCDD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6" b="2451"/>
          <a:stretch/>
        </p:blipFill>
        <p:spPr>
          <a:xfrm>
            <a:off x="302752" y="131719"/>
            <a:ext cx="8538496" cy="4824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عنصر نائب لرقم الشريحة 2">
            <a:extLst>
              <a:ext uri="{FF2B5EF4-FFF2-40B4-BE49-F238E27FC236}">
                <a16:creationId xmlns:a16="http://schemas.microsoft.com/office/drawing/2014/main" id="{9D416512-C98E-4D17-A495-62BA3CE9BB9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9</a:t>
            </a:fld>
            <a:endParaRPr lang="e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60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Parameters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1" name="Google Shape;1021;p2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66B53E77-FDD1-F194-242F-0C60CFC85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480" y="1688300"/>
            <a:ext cx="4082995" cy="23066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مربع نص 6">
                <a:extLst>
                  <a:ext uri="{FF2B5EF4-FFF2-40B4-BE49-F238E27FC236}">
                    <a16:creationId xmlns:a16="http://schemas.microsoft.com/office/drawing/2014/main" id="{3024CB8A-DFAA-4842-60B0-DC62A064EEB5}"/>
                  </a:ext>
                </a:extLst>
              </p:cNvPr>
              <p:cNvSpPr txBox="1"/>
              <p:nvPr/>
            </p:nvSpPr>
            <p:spPr>
              <a:xfrm>
                <a:off x="266525" y="1286430"/>
                <a:ext cx="4600134" cy="3449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1. Sample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+mj-cs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+mj-cs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20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𝑆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+mj-cs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+mj-cs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=5.287 sec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=0.5 sec</a:t>
                </a:r>
              </a:p>
              <a:p>
                <a:endParaRPr lang="en-US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2. Prediction Horizon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𝑠𝑒𝑡𝑡𝑙𝑖𝑛𝑔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h</m:t>
                        </m:r>
                      </m:sub>
                    </m:sSub>
                  </m:oMath>
                </a14:m>
                <a:endParaRPr lang="ar-JO" b="0" dirty="0">
                  <a:latin typeface="Times New Roman" panose="02020603050405020304" pitchFamily="18" charset="0"/>
                  <a:ea typeface="Cambria Math" panose="02040503050406030204" pitchFamily="18" charset="0"/>
                  <a:cs typeface="+mj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𝑠𝑒𝑡𝑡𝑙𝑖𝑛𝑔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10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</a:rPr>
                            <m:t>402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ea typeface="Cambria Math" panose="02040503050406030204" pitchFamily="18" charset="0"/>
                  <a:cs typeface="+mj-cs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>
                    <a:latin typeface="Times New Roman" panose="02020603050405020304" pitchFamily="18" charset="0"/>
                    <a:cs typeface="+mj-cs"/>
                  </a:rPr>
                  <a:t>=11s </a:t>
                </a:r>
                <a:endParaRPr lang="en-US" dirty="0">
                  <a:latin typeface="Times New Roman" panose="02020603050405020304" pitchFamily="18" charset="0"/>
                  <a:cs typeface="+mj-cs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3. Control horizon = 3 </a:t>
                </a:r>
              </a:p>
              <a:p>
                <a:endParaRPr lang="en-US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4. Constrains: 0RPM to 100RPM, on the output</a:t>
                </a:r>
              </a:p>
              <a:p>
                <a:endParaRPr lang="en-US" dirty="0">
                  <a:latin typeface="Times New Roman" panose="02020603050405020304" pitchFamily="18" charset="0"/>
                  <a:cs typeface="+mj-cs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5. Cost function: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𝐽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 =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𝛴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sSup>
                      <m:sSupPr>
                        <m:ctrlPr>
                          <a:rPr lang="ar-JO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  <m:t>+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−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  <m:t>𝑘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  <m:t>+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+mj-cs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∗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𝛴𝛥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ar-JO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+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∗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+mj-cs"/>
                      </a:rPr>
                      <m:t>𝑅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+mj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+mj-cs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+mj-cs"/>
                        </a:rPr>
                        <m:t>𝑖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+mj-cs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+mj-cs"/>
                        </a:rPr>
                        <m:t>1</m:t>
                      </m:r>
                      <m:r>
                        <a:rPr lang="ar-JO" b="0" i="1" dirty="0" smtClean="0">
                          <a:latin typeface="Cambria Math" panose="02040503050406030204" pitchFamily="18" charset="0"/>
                          <a:cs typeface="+mj-cs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+mj-cs"/>
                        </a:rPr>
                        <m:t>𝑡𝑜</m:t>
                      </m:r>
                      <m:r>
                        <a:rPr lang="ar-JO" b="0" i="1" dirty="0" smtClean="0">
                          <a:latin typeface="Cambria Math" panose="02040503050406030204" pitchFamily="18" charset="0"/>
                          <a:cs typeface="+mj-cs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+mj-cs"/>
                        </a:rPr>
                        <m:t>𝑁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+mj-cs"/>
                </a:endParaRPr>
              </a:p>
            </p:txBody>
          </p:sp>
        </mc:Choice>
        <mc:Fallback>
          <p:sp>
            <p:nvSpPr>
              <p:cNvPr id="7" name="مربع نص 6">
                <a:extLst>
                  <a:ext uri="{FF2B5EF4-FFF2-40B4-BE49-F238E27FC236}">
                    <a16:creationId xmlns:a16="http://schemas.microsoft.com/office/drawing/2014/main" id="{3024CB8A-DFAA-4842-60B0-DC62A064E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25" y="1286430"/>
                <a:ext cx="4600134" cy="3449662"/>
              </a:xfrm>
              <a:prstGeom prst="rect">
                <a:avLst/>
              </a:prstGeom>
              <a:blipFill>
                <a:blip r:embed="rId4"/>
                <a:stretch>
                  <a:fillRect l="-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3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Parameters</a:t>
            </a:r>
            <a:endParaRPr sz="4400" dirty="0"/>
          </a:p>
        </p:txBody>
      </p:sp>
      <p:sp>
        <p:nvSpPr>
          <p:cNvPr id="1021" name="Google Shape;1021;p2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5301EE28-6BDD-F34F-3E80-546F2351E3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8" t="3688" r="437" b="1550"/>
          <a:stretch/>
        </p:blipFill>
        <p:spPr>
          <a:xfrm>
            <a:off x="1846272" y="1366140"/>
            <a:ext cx="5451455" cy="329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52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D589C8A-A63D-1331-AD29-93E86052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2683C6"/>
                </a:solidFill>
                <a:latin typeface="Times New Roman" panose="02020603050405020304" pitchFamily="18" charset="0"/>
                <a:ea typeface="Raleway Thin" pitchFamily="2" charset="0"/>
                <a:cs typeface="Times New Roman" panose="02020603050405020304" pitchFamily="18" charset="0"/>
              </a:rPr>
              <a:t>MPC</a:t>
            </a:r>
            <a:r>
              <a:rPr lang="en-US" sz="4400" b="0" i="0" dirty="0">
                <a:solidFill>
                  <a:srgbClr val="2683C6"/>
                </a:solidFill>
                <a:effectLst/>
                <a:latin typeface="Times New Roman" panose="02020603050405020304" pitchFamily="18" charset="0"/>
                <a:ea typeface="Raleway Thin" pitchFamily="2" charset="0"/>
                <a:cs typeface="Times New Roman" panose="02020603050405020304" pitchFamily="18" charset="0"/>
              </a:rPr>
              <a:t> Performance</a:t>
            </a:r>
            <a:endParaRPr lang="en-US" sz="4400" dirty="0"/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CCCFF373-E711-606F-1817-B2DCFC5CD2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5" name="صورة 4">
            <a:extLst>
              <a:ext uri="{FF2B5EF4-FFF2-40B4-BE49-F238E27FC236}">
                <a16:creationId xmlns:a16="http://schemas.microsoft.com/office/drawing/2014/main" id="{A2B861F6-0041-EF68-31E9-E63B2E92C6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9" t="4156" r="2542" b="2072"/>
          <a:stretch/>
        </p:blipFill>
        <p:spPr>
          <a:xfrm>
            <a:off x="157252" y="1654073"/>
            <a:ext cx="4410216" cy="2463638"/>
          </a:xfrm>
          <a:prstGeom prst="rect">
            <a:avLst/>
          </a:prstGeom>
        </p:spPr>
      </p:pic>
      <p:pic>
        <p:nvPicPr>
          <p:cNvPr id="7" name="صورة 6">
            <a:extLst>
              <a:ext uri="{FF2B5EF4-FFF2-40B4-BE49-F238E27FC236}">
                <a16:creationId xmlns:a16="http://schemas.microsoft.com/office/drawing/2014/main" id="{3FBBBD36-A8FA-88B6-D220-8D0659D9A2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4" t="2078" r="1190" b="1872"/>
          <a:stretch/>
        </p:blipFill>
        <p:spPr>
          <a:xfrm>
            <a:off x="4630242" y="1654073"/>
            <a:ext cx="4405791" cy="246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53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D589C8A-A63D-1331-AD29-93E86052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2683C6"/>
                </a:solidFill>
                <a:latin typeface="Times New Roman" panose="02020603050405020304" pitchFamily="18" charset="0"/>
                <a:ea typeface="Raleway Thin" pitchFamily="2" charset="0"/>
                <a:cs typeface="Times New Roman" panose="02020603050405020304" pitchFamily="18" charset="0"/>
              </a:rPr>
              <a:t>Conclusion </a:t>
            </a:r>
            <a:endParaRPr lang="en-US" sz="4400" dirty="0"/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CCCFF373-E711-606F-1817-B2DCFC5CD2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صورة 3">
            <a:extLst>
              <a:ext uri="{FF2B5EF4-FFF2-40B4-BE49-F238E27FC236}">
                <a16:creationId xmlns:a16="http://schemas.microsoft.com/office/drawing/2014/main" id="{178747E4-4519-4BCA-B550-7A85AF59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418" y="1589194"/>
            <a:ext cx="6523285" cy="28425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817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3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2077" name="Google Shape;2077;p34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2078" name="Google Shape;2078;p34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34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34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34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4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34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4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34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34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34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34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34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34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34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34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4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34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34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34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34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4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34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34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34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34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34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4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34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34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34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34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34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4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34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34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34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34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34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34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34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34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34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34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34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34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34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34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34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34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34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34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34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4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34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34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34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5" name="Google Shape;2135;p34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2136" name="Google Shape;2136;p34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2137" name="Google Shape;2137;p34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8" name="Google Shape;2138;p34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9" name="Google Shape;2139;p34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40" name="Google Shape;2140;p34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2141" name="Google Shape;2141;p34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2" name="Google Shape;2142;p34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43" name="Google Shape;2143;p34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4" name="Google Shape;2144;p34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5" name="Google Shape;2145;p34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6" name="Google Shape;2146;p34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7" name="Google Shape;2147;p34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8" name="Google Shape;2148;p34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9" name="Google Shape;2149;p34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0" name="Google Shape;2150;p34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1" name="Google Shape;2151;p34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2" name="Google Shape;2152;p34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3" name="Google Shape;2153;p34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4" name="Google Shape;2154;p34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5" name="Google Shape;2155;p34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6" name="Google Shape;2156;p34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7" name="Google Shape;2157;p34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8" name="Google Shape;2158;p34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9" name="Google Shape;2159;p34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0" name="Google Shape;2160;p34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1" name="Google Shape;2161;p34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2" name="Google Shape;2162;p34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3" name="Google Shape;2163;p34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4" name="Google Shape;2164;p34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5" name="Google Shape;2165;p34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6" name="Google Shape;2166;p34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7" name="Google Shape;2167;p34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8" name="Google Shape;2168;p34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9" name="Google Shape;2169;p34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0" name="Google Shape;2170;p34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1" name="Google Shape;2171;p34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2" name="Google Shape;2172;p34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3" name="Google Shape;2173;p34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4" name="Google Shape;2174;p34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5" name="Google Shape;2175;p34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6" name="Google Shape;2176;p34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7" name="Google Shape;2177;p34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8" name="Google Shape;2178;p34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9" name="Google Shape;2179;p34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0" name="Google Shape;2180;p34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1" name="Google Shape;2181;p34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2" name="Google Shape;2182;p34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3" name="Google Shape;2183;p34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4" name="Google Shape;2184;p34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5" name="Google Shape;2185;p34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6" name="Google Shape;2186;p34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7" name="Google Shape;2187;p34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8" name="Google Shape;2188;p34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9" name="Google Shape;2189;p34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0" name="Google Shape;2190;p34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1" name="Google Shape;2191;p34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2" name="Google Shape;2192;p34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34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4" name="Google Shape;2194;p34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5" name="Google Shape;2195;p34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6" name="Google Shape;2196;p34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7" name="Google Shape;2197;p34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8" name="Google Shape;2198;p34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9" name="Google Shape;2199;p34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0" name="Google Shape;2200;p34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1" name="Google Shape;2201;p34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2" name="Google Shape;2202;p34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3" name="Google Shape;2203;p34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4" name="Google Shape;2204;p34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5" name="Google Shape;2205;p34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6" name="Google Shape;2206;p34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7" name="Google Shape;2207;p34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2208" name="Google Shape;2208;p34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2209" name="Google Shape;2209;p34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0" name="Google Shape;2210;p34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1" name="Google Shape;2211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2" name="Google Shape;2212;p34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3" name="Google Shape;2213;p34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214" name="Google Shape;2214;p34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5" name="Google Shape;2215;p34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6" name="Google Shape;2216;p34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217" name="Google Shape;2217;p34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34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34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34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34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34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3" name="Google Shape;2223;p34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rgbClr val="2EA8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400" b="1" dirty="0">
              <a:solidFill>
                <a:srgbClr val="2EA8E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4" name="Google Shape;2224;p34"/>
          <p:cNvSpPr txBox="1">
            <a:spLocks noGrp="1"/>
          </p:cNvSpPr>
          <p:nvPr>
            <p:ph type="subTitle" idx="4294967295"/>
          </p:nvPr>
        </p:nvSpPr>
        <p:spPr>
          <a:xfrm>
            <a:off x="685800" y="2021059"/>
            <a:ext cx="4343700" cy="19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1"/>
                </a:solidFill>
                <a:latin typeface="Times New Roman" panose="02020603050405020304" pitchFamily="18" charset="0"/>
                <a:ea typeface="Barlow"/>
                <a:cs typeface="Times New Roman" panose="02020603050405020304" pitchFamily="18" charset="0"/>
                <a:sym typeface="Barlow"/>
              </a:rPr>
              <a:t>Any questions?</a:t>
            </a:r>
            <a:endParaRPr sz="3600" b="1" dirty="0">
              <a:solidFill>
                <a:schemeClr val="accent1"/>
              </a:solidFill>
              <a:latin typeface="Times New Roman" panose="02020603050405020304" pitchFamily="18" charset="0"/>
              <a:ea typeface="Barlow"/>
              <a:cs typeface="Times New Roman" panose="02020603050405020304" pitchFamily="18" charset="0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34490D32615149A2564C674FA2EC4E" ma:contentTypeVersion="13" ma:contentTypeDescription="Create a new document." ma:contentTypeScope="" ma:versionID="d030e416a153b176d9d748490bea5da1">
  <xsd:schema xmlns:xsd="http://www.w3.org/2001/XMLSchema" xmlns:xs="http://www.w3.org/2001/XMLSchema" xmlns:p="http://schemas.microsoft.com/office/2006/metadata/properties" xmlns:ns3="8cd90ff2-9566-41f0-8a56-8dcd81b4eefb" xmlns:ns4="81040c1f-b7e0-4541-b05e-2b3ebb0d43df" targetNamespace="http://schemas.microsoft.com/office/2006/metadata/properties" ma:root="true" ma:fieldsID="d686b1b1b9199ebb73af02c9acc26fc4" ns3:_="" ns4:_="">
    <xsd:import namespace="8cd90ff2-9566-41f0-8a56-8dcd81b4eefb"/>
    <xsd:import namespace="81040c1f-b7e0-4541-b05e-2b3ebb0d43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d90ff2-9566-41f0-8a56-8dcd81b4ee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40c1f-b7e0-4541-b05e-2b3ebb0d43d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8E4BAD-7533-4B3A-97CF-25E86304E42E}">
  <ds:schemaRefs>
    <ds:schemaRef ds:uri="81040c1f-b7e0-4541-b05e-2b3ebb0d43df"/>
    <ds:schemaRef ds:uri="8cd90ff2-9566-41f0-8a56-8dcd81b4eef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19440ED-B546-4661-BF62-3CDD009CAEB6}">
  <ds:schemaRefs>
    <ds:schemaRef ds:uri="http://purl.org/dc/elements/1.1/"/>
    <ds:schemaRef ds:uri="http://purl.org/dc/terms/"/>
    <ds:schemaRef ds:uri="http://schemas.microsoft.com/office/infopath/2007/PartnerControls"/>
    <ds:schemaRef ds:uri="8cd90ff2-9566-41f0-8a56-8dcd81b4eefb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81040c1f-b7e0-4541-b05e-2b3ebb0d43d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579B9F2-A8A3-4D4E-95AA-C13D3326A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16093</TotalTime>
  <Words>322</Words>
  <Application>Microsoft Office PowerPoint</Application>
  <PresentationFormat>On-screen Show (16:9)</PresentationFormat>
  <Paragraphs>115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Barlow Light</vt:lpstr>
      <vt:lpstr>Times New Roman</vt:lpstr>
      <vt:lpstr>Cambria Math</vt:lpstr>
      <vt:lpstr>Raleway Thin</vt:lpstr>
      <vt:lpstr>Calibri</vt:lpstr>
      <vt:lpstr>Gaoler template</vt:lpstr>
      <vt:lpstr>Mastering MPC USING MATLAB</vt:lpstr>
      <vt:lpstr>Overview</vt:lpstr>
      <vt:lpstr>What is the sumo robot ? </vt:lpstr>
      <vt:lpstr>Hardware Components</vt:lpstr>
      <vt:lpstr>Sensors-Motors relationship</vt:lpstr>
      <vt:lpstr>Mathematical Model</vt:lpstr>
      <vt:lpstr>Mathematical Model</vt:lpstr>
      <vt:lpstr>PID Performance</vt:lpstr>
      <vt:lpstr>PowerPoint Presentation</vt:lpstr>
      <vt:lpstr>MPC Parameters</vt:lpstr>
      <vt:lpstr>MPC Parameters</vt:lpstr>
      <vt:lpstr>MPC Performance</vt:lpstr>
      <vt:lpstr>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 vigilant</dc:title>
  <dc:creator>Nada</dc:creator>
  <cp:lastModifiedBy>Wa'el Jad Allah</cp:lastModifiedBy>
  <cp:revision>234</cp:revision>
  <dcterms:modified xsi:type="dcterms:W3CDTF">2024-01-10T11:59:59Z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0x010100EE34490D32615149A2564C674FA2EC4E</vt:lpwstr>
  </property>
</Properties>
</file>